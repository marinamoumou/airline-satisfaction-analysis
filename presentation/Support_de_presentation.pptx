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Montaser Arabic" panose="020B0604020202020204" charset="-78"/>
      <p:regular r:id="rId19"/>
    </p:embeddedFont>
    <p:embeddedFont>
      <p:font typeface="Montaser Arabic Bold" panose="020B0604020202020204" charset="-78"/>
      <p:regular r:id="rId20"/>
    </p:embeddedFont>
    <p:embeddedFont>
      <p:font typeface="Open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1555" y="-3141767"/>
            <a:ext cx="19275161" cy="15449014"/>
            <a:chOff x="0" y="0"/>
            <a:chExt cx="4374456" cy="3506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456" cy="3506120"/>
            </a:xfrm>
            <a:custGeom>
              <a:avLst/>
              <a:gdLst/>
              <a:ahLst/>
              <a:cxnLst/>
              <a:rect l="l" t="t" r="r" b="b"/>
              <a:pathLst>
                <a:path w="4374456" h="3506120">
                  <a:moveTo>
                    <a:pt x="0" y="0"/>
                  </a:moveTo>
                  <a:lnTo>
                    <a:pt x="4374456" y="0"/>
                  </a:lnTo>
                  <a:lnTo>
                    <a:pt x="4374456" y="3506120"/>
                  </a:lnTo>
                  <a:lnTo>
                    <a:pt x="0" y="3506120"/>
                  </a:lnTo>
                  <a:close/>
                </a:path>
              </a:pathLst>
            </a:custGeom>
            <a:solidFill>
              <a:srgbClr val="278C9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4456" cy="354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43923" y="-536924"/>
            <a:ext cx="19735883" cy="11824825"/>
          </a:xfrm>
          <a:custGeom>
            <a:avLst/>
            <a:gdLst/>
            <a:ahLst/>
            <a:cxnLst/>
            <a:rect l="l" t="t" r="r" b="b"/>
            <a:pathLst>
              <a:path w="19735883" h="11824825">
                <a:moveTo>
                  <a:pt x="0" y="0"/>
                </a:moveTo>
                <a:lnTo>
                  <a:pt x="19735883" y="0"/>
                </a:lnTo>
                <a:lnTo>
                  <a:pt x="19735883" y="11824825"/>
                </a:lnTo>
                <a:lnTo>
                  <a:pt x="0" y="118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t="-3721" b="-372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 rot="-251922">
            <a:off x="-350378" y="7878844"/>
            <a:ext cx="7089140" cy="2758912"/>
            <a:chOff x="0" y="0"/>
            <a:chExt cx="1750201" cy="6811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0201" cy="681134"/>
            </a:xfrm>
            <a:custGeom>
              <a:avLst/>
              <a:gdLst/>
              <a:ahLst/>
              <a:cxnLst/>
              <a:rect l="l" t="t" r="r" b="b"/>
              <a:pathLst>
                <a:path w="1750201" h="681134">
                  <a:moveTo>
                    <a:pt x="0" y="0"/>
                  </a:moveTo>
                  <a:lnTo>
                    <a:pt x="1750201" y="0"/>
                  </a:lnTo>
                  <a:lnTo>
                    <a:pt x="1750201" y="681134"/>
                  </a:lnTo>
                  <a:lnTo>
                    <a:pt x="0" y="681134"/>
                  </a:lnTo>
                  <a:close/>
                </a:path>
              </a:pathLst>
            </a:custGeom>
            <a:solidFill>
              <a:srgbClr val="35C0D8">
                <a:alpha val="86667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50201" cy="719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4350" y="2041735"/>
            <a:ext cx="17259300" cy="333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9"/>
              </a:lnSpc>
            </a:pPr>
            <a:r>
              <a:rPr lang="en-US" sz="5999" b="1" spc="22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CE QUI REND UN PASSAGER HEUREUX : PLONGÉE DANS LA SATISFACTION CLIENT EN VOL</a:t>
            </a:r>
          </a:p>
        </p:txBody>
      </p:sp>
      <p:sp>
        <p:nvSpPr>
          <p:cNvPr id="10" name="Freeform 10"/>
          <p:cNvSpPr/>
          <p:nvPr/>
        </p:nvSpPr>
        <p:spPr>
          <a:xfrm rot="-253731">
            <a:off x="5196377" y="8157426"/>
            <a:ext cx="1068745" cy="1062916"/>
          </a:xfrm>
          <a:custGeom>
            <a:avLst/>
            <a:gdLst/>
            <a:ahLst/>
            <a:cxnLst/>
            <a:rect l="l" t="t" r="r" b="b"/>
            <a:pathLst>
              <a:path w="1068745" h="1062916">
                <a:moveTo>
                  <a:pt x="0" y="0"/>
                </a:moveTo>
                <a:lnTo>
                  <a:pt x="1068745" y="0"/>
                </a:lnTo>
                <a:lnTo>
                  <a:pt x="1068745" y="1062916"/>
                </a:lnTo>
                <a:lnTo>
                  <a:pt x="0" y="106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028700" y="8280534"/>
            <a:ext cx="3585716" cy="118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Sara El Amri</a:t>
            </a:r>
          </a:p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Marina Moumou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8665" y="9897747"/>
            <a:ext cx="3215878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 1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7925" y="-58876"/>
            <a:ext cx="8220075" cy="10345876"/>
          </a:xfrm>
          <a:custGeom>
            <a:avLst/>
            <a:gdLst/>
            <a:ahLst/>
            <a:cxnLst/>
            <a:rect l="l" t="t" r="r" b="b"/>
            <a:pathLst>
              <a:path w="8220075" h="10345876">
                <a:moveTo>
                  <a:pt x="0" y="0"/>
                </a:moveTo>
                <a:lnTo>
                  <a:pt x="8220075" y="0"/>
                </a:lnTo>
                <a:lnTo>
                  <a:pt x="8220075" y="10345876"/>
                </a:lnTo>
                <a:lnTo>
                  <a:pt x="0" y="10345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395" r="-443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228301">
            <a:off x="7871424" y="3603004"/>
            <a:ext cx="1006455" cy="1000965"/>
          </a:xfrm>
          <a:custGeom>
            <a:avLst/>
            <a:gdLst/>
            <a:ahLst/>
            <a:cxnLst/>
            <a:rect l="l" t="t" r="r" b="b"/>
            <a:pathLst>
              <a:path w="1006455" h="1000965">
                <a:moveTo>
                  <a:pt x="0" y="0"/>
                </a:moveTo>
                <a:lnTo>
                  <a:pt x="1006455" y="0"/>
                </a:lnTo>
                <a:lnTo>
                  <a:pt x="1006455" y="1000965"/>
                </a:lnTo>
                <a:lnTo>
                  <a:pt x="0" y="1000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00346" y="4712460"/>
            <a:ext cx="9867579" cy="938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2"/>
              </a:lnSpc>
            </a:pPr>
            <a:r>
              <a:rPr lang="en-US" sz="6700" b="1" spc="24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Analyses univariées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12918"/>
            <a:ext cx="18478074" cy="12163209"/>
          </a:xfrm>
          <a:custGeom>
            <a:avLst/>
            <a:gdLst/>
            <a:ahLst/>
            <a:cxnLst/>
            <a:rect l="l" t="t" r="r" b="b"/>
            <a:pathLst>
              <a:path w="18478074" h="12163209">
                <a:moveTo>
                  <a:pt x="0" y="0"/>
                </a:moveTo>
                <a:lnTo>
                  <a:pt x="18478074" y="0"/>
                </a:lnTo>
                <a:lnTo>
                  <a:pt x="18478074" y="12163209"/>
                </a:lnTo>
                <a:lnTo>
                  <a:pt x="0" y="1216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t="-63938" b="-6393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24666" y="6505512"/>
            <a:ext cx="5590004" cy="3569598"/>
          </a:xfrm>
          <a:custGeom>
            <a:avLst/>
            <a:gdLst/>
            <a:ahLst/>
            <a:cxnLst/>
            <a:rect l="l" t="t" r="r" b="b"/>
            <a:pathLst>
              <a:path w="5590004" h="3569598">
                <a:moveTo>
                  <a:pt x="0" y="0"/>
                </a:moveTo>
                <a:lnTo>
                  <a:pt x="5590004" y="0"/>
                </a:lnTo>
                <a:lnTo>
                  <a:pt x="5590004" y="3569598"/>
                </a:lnTo>
                <a:lnTo>
                  <a:pt x="0" y="3569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5999272" y="6483780"/>
            <a:ext cx="5758394" cy="3591330"/>
          </a:xfrm>
          <a:custGeom>
            <a:avLst/>
            <a:gdLst/>
            <a:ahLst/>
            <a:cxnLst/>
            <a:rect l="l" t="t" r="r" b="b"/>
            <a:pathLst>
              <a:path w="5758394" h="3591330">
                <a:moveTo>
                  <a:pt x="0" y="0"/>
                </a:moveTo>
                <a:lnTo>
                  <a:pt x="5758393" y="0"/>
                </a:lnTo>
                <a:lnTo>
                  <a:pt x="5758393" y="3591330"/>
                </a:lnTo>
                <a:lnTo>
                  <a:pt x="0" y="3591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8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2043415" y="6451748"/>
            <a:ext cx="6016113" cy="3623362"/>
          </a:xfrm>
          <a:custGeom>
            <a:avLst/>
            <a:gdLst/>
            <a:ahLst/>
            <a:cxnLst/>
            <a:rect l="l" t="t" r="r" b="b"/>
            <a:pathLst>
              <a:path w="6016113" h="3623362">
                <a:moveTo>
                  <a:pt x="0" y="0"/>
                </a:moveTo>
                <a:lnTo>
                  <a:pt x="6016114" y="0"/>
                </a:lnTo>
                <a:lnTo>
                  <a:pt x="6016114" y="3623362"/>
                </a:lnTo>
                <a:lnTo>
                  <a:pt x="0" y="3623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454" b="-257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2481977" y="1307477"/>
            <a:ext cx="13324045" cy="4865493"/>
          </a:xfrm>
          <a:custGeom>
            <a:avLst/>
            <a:gdLst/>
            <a:ahLst/>
            <a:cxnLst/>
            <a:rect l="l" t="t" r="r" b="b"/>
            <a:pathLst>
              <a:path w="13324045" h="4865493">
                <a:moveTo>
                  <a:pt x="0" y="0"/>
                </a:moveTo>
                <a:lnTo>
                  <a:pt x="13324046" y="0"/>
                </a:lnTo>
                <a:lnTo>
                  <a:pt x="13324046" y="4865494"/>
                </a:lnTo>
                <a:lnTo>
                  <a:pt x="0" y="4865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44" r="-37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545092" y="410712"/>
            <a:ext cx="14666753" cy="61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sz="36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Vue d’ensemble des moyennes et répartitions</a:t>
            </a:r>
          </a:p>
        </p:txBody>
      </p:sp>
      <p:sp>
        <p:nvSpPr>
          <p:cNvPr id="8" name="Freeform 8"/>
          <p:cNvSpPr/>
          <p:nvPr/>
        </p:nvSpPr>
        <p:spPr>
          <a:xfrm rot="-253731">
            <a:off x="13740622" y="90010"/>
            <a:ext cx="779004" cy="774755"/>
          </a:xfrm>
          <a:custGeom>
            <a:avLst/>
            <a:gdLst/>
            <a:ahLst/>
            <a:cxnLst/>
            <a:rect l="l" t="t" r="r" b="b"/>
            <a:pathLst>
              <a:path w="779004" h="774755">
                <a:moveTo>
                  <a:pt x="0" y="0"/>
                </a:moveTo>
                <a:lnTo>
                  <a:pt x="779004" y="0"/>
                </a:lnTo>
                <a:lnTo>
                  <a:pt x="779004" y="774755"/>
                </a:lnTo>
                <a:lnTo>
                  <a:pt x="0" y="7747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2500"/>
            <a:ext cx="18288000" cy="11703903"/>
          </a:xfrm>
          <a:custGeom>
            <a:avLst/>
            <a:gdLst/>
            <a:ahLst/>
            <a:cxnLst/>
            <a:rect l="l" t="t" r="r" b="b"/>
            <a:pathLst>
              <a:path w="18288000" h="11703903">
                <a:moveTo>
                  <a:pt x="0" y="0"/>
                </a:moveTo>
                <a:lnTo>
                  <a:pt x="18288000" y="0"/>
                </a:lnTo>
                <a:lnTo>
                  <a:pt x="18288000" y="11703903"/>
                </a:lnTo>
                <a:lnTo>
                  <a:pt x="0" y="11703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t="-2085" b="-208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3492472"/>
            <a:ext cx="7474388" cy="4772906"/>
          </a:xfrm>
          <a:custGeom>
            <a:avLst/>
            <a:gdLst/>
            <a:ahLst/>
            <a:cxnLst/>
            <a:rect l="l" t="t" r="r" b="b"/>
            <a:pathLst>
              <a:path w="7474388" h="4772906">
                <a:moveTo>
                  <a:pt x="0" y="0"/>
                </a:moveTo>
                <a:lnTo>
                  <a:pt x="7474388" y="0"/>
                </a:lnTo>
                <a:lnTo>
                  <a:pt x="7474388" y="4772906"/>
                </a:lnTo>
                <a:lnTo>
                  <a:pt x="0" y="4772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338792" y="3492472"/>
            <a:ext cx="7474388" cy="4772906"/>
          </a:xfrm>
          <a:custGeom>
            <a:avLst/>
            <a:gdLst/>
            <a:ahLst/>
            <a:cxnLst/>
            <a:rect l="l" t="t" r="r" b="b"/>
            <a:pathLst>
              <a:path w="7474388" h="4772906">
                <a:moveTo>
                  <a:pt x="0" y="0"/>
                </a:moveTo>
                <a:lnTo>
                  <a:pt x="7474388" y="0"/>
                </a:lnTo>
                <a:lnTo>
                  <a:pt x="7474388" y="4772906"/>
                </a:lnTo>
                <a:lnTo>
                  <a:pt x="0" y="4772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250767" y="1006447"/>
            <a:ext cx="11763821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Zoom sur les variables </a:t>
            </a:r>
            <a:r>
              <a:rPr lang="en-US" sz="5199" b="1" dirty="0" err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qualitatives</a:t>
            </a:r>
            <a:endParaRPr lang="en-US" sz="5199" b="1" dirty="0">
              <a:solidFill>
                <a:srgbClr val="FFFFFF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32678" y="6313680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28700" y="8759190"/>
            <a:ext cx="8648039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ctr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84% des passagers sont des clients fidèles</a:t>
            </a:r>
          </a:p>
          <a:p>
            <a:pPr marL="582933" lvl="1" indent="-291467" algn="ctr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Équilibre entre les classes Eco et Business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52888"/>
            <a:ext cx="18452902" cy="10939888"/>
          </a:xfrm>
          <a:custGeom>
            <a:avLst/>
            <a:gdLst/>
            <a:ahLst/>
            <a:cxnLst/>
            <a:rect l="l" t="t" r="r" b="b"/>
            <a:pathLst>
              <a:path w="18452902" h="10939888">
                <a:moveTo>
                  <a:pt x="0" y="0"/>
                </a:moveTo>
                <a:lnTo>
                  <a:pt x="18452902" y="0"/>
                </a:lnTo>
                <a:lnTo>
                  <a:pt x="18452902" y="10939888"/>
                </a:lnTo>
                <a:lnTo>
                  <a:pt x="0" y="10939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t="-76506" b="-7650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651184" y="2432165"/>
            <a:ext cx="13070855" cy="7368695"/>
          </a:xfrm>
          <a:custGeom>
            <a:avLst/>
            <a:gdLst/>
            <a:ahLst/>
            <a:cxnLst/>
            <a:rect l="l" t="t" r="r" b="b"/>
            <a:pathLst>
              <a:path w="13070855" h="7368695">
                <a:moveTo>
                  <a:pt x="0" y="0"/>
                </a:moveTo>
                <a:lnTo>
                  <a:pt x="13070855" y="0"/>
                </a:lnTo>
                <a:lnTo>
                  <a:pt x="13070855" y="7368694"/>
                </a:lnTo>
                <a:lnTo>
                  <a:pt x="0" y="7368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111892" y="624693"/>
            <a:ext cx="13610147" cy="119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64"/>
              </a:lnSpc>
            </a:pPr>
            <a:r>
              <a:rPr lang="en-US" sz="4400" b="1" spc="162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Comprendre les relations entre variables avant d’aller plus loin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7925" y="-58876"/>
            <a:ext cx="8220075" cy="10345876"/>
          </a:xfrm>
          <a:custGeom>
            <a:avLst/>
            <a:gdLst/>
            <a:ahLst/>
            <a:cxnLst/>
            <a:rect l="l" t="t" r="r" b="b"/>
            <a:pathLst>
              <a:path w="8220075" h="10345876">
                <a:moveTo>
                  <a:pt x="0" y="0"/>
                </a:moveTo>
                <a:lnTo>
                  <a:pt x="8220075" y="0"/>
                </a:lnTo>
                <a:lnTo>
                  <a:pt x="8220075" y="10345876"/>
                </a:lnTo>
                <a:lnTo>
                  <a:pt x="0" y="10345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395" r="-443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228301">
            <a:off x="7871424" y="3603004"/>
            <a:ext cx="1006455" cy="1000965"/>
          </a:xfrm>
          <a:custGeom>
            <a:avLst/>
            <a:gdLst/>
            <a:ahLst/>
            <a:cxnLst/>
            <a:rect l="l" t="t" r="r" b="b"/>
            <a:pathLst>
              <a:path w="1006455" h="1000965">
                <a:moveTo>
                  <a:pt x="0" y="0"/>
                </a:moveTo>
                <a:lnTo>
                  <a:pt x="1006455" y="0"/>
                </a:lnTo>
                <a:lnTo>
                  <a:pt x="1006455" y="1000965"/>
                </a:lnTo>
                <a:lnTo>
                  <a:pt x="0" y="1000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00346" y="4712460"/>
            <a:ext cx="9867579" cy="938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2"/>
              </a:lnSpc>
            </a:pPr>
            <a:r>
              <a:rPr lang="en-US" sz="6700" b="1" spc="24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Analyses bivariées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4091" y="-411914"/>
            <a:ext cx="19596182" cy="11110827"/>
          </a:xfrm>
          <a:custGeom>
            <a:avLst/>
            <a:gdLst/>
            <a:ahLst/>
            <a:cxnLst/>
            <a:rect l="l" t="t" r="r" b="b"/>
            <a:pathLst>
              <a:path w="19596182" h="11110827">
                <a:moveTo>
                  <a:pt x="0" y="0"/>
                </a:moveTo>
                <a:lnTo>
                  <a:pt x="19596182" y="0"/>
                </a:lnTo>
                <a:lnTo>
                  <a:pt x="19596182" y="11110828"/>
                </a:lnTo>
                <a:lnTo>
                  <a:pt x="0" y="111108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t="-82277" b="-8227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452438" y="2793507"/>
            <a:ext cx="13383125" cy="5674216"/>
          </a:xfrm>
          <a:custGeom>
            <a:avLst/>
            <a:gdLst/>
            <a:ahLst/>
            <a:cxnLst/>
            <a:rect l="l" t="t" r="r" b="b"/>
            <a:pathLst>
              <a:path w="13383125" h="5674216">
                <a:moveTo>
                  <a:pt x="0" y="0"/>
                </a:moveTo>
                <a:lnTo>
                  <a:pt x="13383124" y="0"/>
                </a:lnTo>
                <a:lnTo>
                  <a:pt x="13383124" y="5674216"/>
                </a:lnTo>
                <a:lnTo>
                  <a:pt x="0" y="567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452438" y="570350"/>
            <a:ext cx="13071567" cy="147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24"/>
              </a:lnSpc>
            </a:pPr>
            <a:r>
              <a:rPr lang="en-US" sz="5400" b="1" spc="1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Analyse bivariée des variables quantitatives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2500"/>
            <a:ext cx="18584341" cy="11239500"/>
          </a:xfrm>
          <a:custGeom>
            <a:avLst/>
            <a:gdLst/>
            <a:ahLst/>
            <a:cxnLst/>
            <a:rect l="l" t="t" r="r" b="b"/>
            <a:pathLst>
              <a:path w="18584341" h="11239500">
                <a:moveTo>
                  <a:pt x="0" y="0"/>
                </a:moveTo>
                <a:lnTo>
                  <a:pt x="18584341" y="0"/>
                </a:lnTo>
                <a:lnTo>
                  <a:pt x="18584341" y="11239500"/>
                </a:lnTo>
                <a:lnTo>
                  <a:pt x="0" y="1123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-707" t="-11791" r="-7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44830" y="2678957"/>
            <a:ext cx="8743391" cy="4929087"/>
          </a:xfrm>
          <a:custGeom>
            <a:avLst/>
            <a:gdLst/>
            <a:ahLst/>
            <a:cxnLst/>
            <a:rect l="l" t="t" r="r" b="b"/>
            <a:pathLst>
              <a:path w="8743391" h="4929087">
                <a:moveTo>
                  <a:pt x="0" y="0"/>
                </a:moveTo>
                <a:lnTo>
                  <a:pt x="8743391" y="0"/>
                </a:lnTo>
                <a:lnTo>
                  <a:pt x="8743391" y="4929086"/>
                </a:lnTo>
                <a:lnTo>
                  <a:pt x="0" y="4929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292170" y="2678957"/>
            <a:ext cx="8743391" cy="4929087"/>
          </a:xfrm>
          <a:custGeom>
            <a:avLst/>
            <a:gdLst/>
            <a:ahLst/>
            <a:cxnLst/>
            <a:rect l="l" t="t" r="r" b="b"/>
            <a:pathLst>
              <a:path w="8743391" h="4929087">
                <a:moveTo>
                  <a:pt x="0" y="0"/>
                </a:moveTo>
                <a:lnTo>
                  <a:pt x="8743391" y="0"/>
                </a:lnTo>
                <a:lnTo>
                  <a:pt x="8743391" y="4929086"/>
                </a:lnTo>
                <a:lnTo>
                  <a:pt x="0" y="4929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452438" y="570350"/>
            <a:ext cx="13071567" cy="147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24"/>
              </a:lnSpc>
            </a:pPr>
            <a:r>
              <a:rPr lang="en-US" sz="5400" b="1" spc="1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Exploration graphique des liens entre variables quantitatives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744" y="8493760"/>
            <a:ext cx="15528749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Distribution asymétrique : les insatisfaits notent plus bas avec plus de dispersion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Médianes plus hautes dans le groupe des satisfaits pour les deux variables</a:t>
            </a:r>
          </a:p>
          <a:p>
            <a:pPr algn="ctr">
              <a:lnSpc>
                <a:spcPts val="3919"/>
              </a:lnSpc>
            </a:pPr>
            <a:endParaRPr lang="en-US" sz="27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56" y="-1353477"/>
            <a:ext cx="19331944" cy="11640477"/>
          </a:xfrm>
          <a:custGeom>
            <a:avLst/>
            <a:gdLst/>
            <a:ahLst/>
            <a:cxnLst/>
            <a:rect l="l" t="t" r="r" b="b"/>
            <a:pathLst>
              <a:path w="19331944" h="11640477">
                <a:moveTo>
                  <a:pt x="0" y="0"/>
                </a:moveTo>
                <a:lnTo>
                  <a:pt x="19331944" y="0"/>
                </a:lnTo>
                <a:lnTo>
                  <a:pt x="19331944" y="11640477"/>
                </a:lnTo>
                <a:lnTo>
                  <a:pt x="0" y="11640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</a:blip>
            <a:stretch>
              <a:fillRect t="-76007" b="-7310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9484036" y="2882907"/>
            <a:ext cx="8115300" cy="6877373"/>
          </a:xfrm>
          <a:custGeom>
            <a:avLst/>
            <a:gdLst/>
            <a:ahLst/>
            <a:cxnLst/>
            <a:rect l="l" t="t" r="r" b="b"/>
            <a:pathLst>
              <a:path w="8115300" h="6877373">
                <a:moveTo>
                  <a:pt x="0" y="0"/>
                </a:moveTo>
                <a:lnTo>
                  <a:pt x="8115300" y="0"/>
                </a:lnTo>
                <a:lnTo>
                  <a:pt x="8115300" y="6877373"/>
                </a:lnTo>
                <a:lnTo>
                  <a:pt x="0" y="687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-304319">
            <a:off x="-1423071" y="4202784"/>
            <a:ext cx="10371226" cy="6007758"/>
          </a:xfrm>
          <a:custGeom>
            <a:avLst/>
            <a:gdLst/>
            <a:ahLst/>
            <a:cxnLst/>
            <a:rect l="l" t="t" r="r" b="b"/>
            <a:pathLst>
              <a:path w="10371226" h="6007758">
                <a:moveTo>
                  <a:pt x="0" y="0"/>
                </a:moveTo>
                <a:lnTo>
                  <a:pt x="10371226" y="0"/>
                </a:lnTo>
                <a:lnTo>
                  <a:pt x="10371226" y="6007758"/>
                </a:lnTo>
                <a:lnTo>
                  <a:pt x="0" y="6007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41" r="-254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32017" y="5243930"/>
            <a:ext cx="8078055" cy="494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255" lvl="1" indent="-328628" algn="l">
              <a:lnSpc>
                <a:spcPts val="4718"/>
              </a:lnSpc>
              <a:buFont typeface="Arial"/>
              <a:buChar char="•"/>
            </a:pPr>
            <a:r>
              <a:rPr lang="en-US" sz="304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Toutes les associations sont significatives (p &lt; 0,05)</a:t>
            </a:r>
          </a:p>
          <a:p>
            <a:pPr marL="657255" lvl="1" indent="-328628" algn="l">
              <a:lnSpc>
                <a:spcPts val="4718"/>
              </a:lnSpc>
              <a:buFont typeface="Arial"/>
              <a:buChar char="•"/>
            </a:pPr>
            <a:r>
              <a:rPr lang="en-US" sz="304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Divertissement et services digitaux : variables les plus liées à la satisfaction</a:t>
            </a:r>
          </a:p>
          <a:p>
            <a:pPr marL="657255" lvl="1" indent="-328628" algn="l">
              <a:lnSpc>
                <a:spcPts val="4718"/>
              </a:lnSpc>
              <a:buFont typeface="Arial"/>
              <a:buChar char="•"/>
            </a:pPr>
            <a:r>
              <a:rPr lang="en-US" sz="304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Résultat : impact multi-dimensionnel sur la satisfaction</a:t>
            </a:r>
          </a:p>
          <a:p>
            <a:pPr algn="ctr">
              <a:lnSpc>
                <a:spcPts val="6629"/>
              </a:lnSpc>
            </a:pPr>
            <a:endParaRPr lang="en-US" sz="304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91559" y="463497"/>
            <a:ext cx="14304882" cy="220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24"/>
              </a:lnSpc>
            </a:pPr>
            <a:r>
              <a:rPr lang="en-US" sz="5400" b="1" spc="1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Analyse bivariée des variables qualitatives : Résultats du test du khi2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6429" y="-1070119"/>
            <a:ext cx="18464429" cy="12309619"/>
          </a:xfrm>
          <a:custGeom>
            <a:avLst/>
            <a:gdLst/>
            <a:ahLst/>
            <a:cxnLst/>
            <a:rect l="l" t="t" r="r" b="b"/>
            <a:pathLst>
              <a:path w="18464429" h="12309619">
                <a:moveTo>
                  <a:pt x="0" y="0"/>
                </a:moveTo>
                <a:lnTo>
                  <a:pt x="18464429" y="0"/>
                </a:lnTo>
                <a:lnTo>
                  <a:pt x="18464429" y="12309619"/>
                </a:lnTo>
                <a:lnTo>
                  <a:pt x="0" y="1230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304903" y="3562550"/>
            <a:ext cx="8839097" cy="4645669"/>
          </a:xfrm>
          <a:custGeom>
            <a:avLst/>
            <a:gdLst/>
            <a:ahLst/>
            <a:cxnLst/>
            <a:rect l="l" t="t" r="r" b="b"/>
            <a:pathLst>
              <a:path w="8839097" h="4645669">
                <a:moveTo>
                  <a:pt x="0" y="0"/>
                </a:moveTo>
                <a:lnTo>
                  <a:pt x="8839097" y="0"/>
                </a:lnTo>
                <a:lnTo>
                  <a:pt x="8839097" y="4645669"/>
                </a:lnTo>
                <a:lnTo>
                  <a:pt x="0" y="4645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99" t="-4345" r="-4862" b="-1584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357432" y="3574590"/>
            <a:ext cx="8476150" cy="4633629"/>
          </a:xfrm>
          <a:custGeom>
            <a:avLst/>
            <a:gdLst/>
            <a:ahLst/>
            <a:cxnLst/>
            <a:rect l="l" t="t" r="r" b="b"/>
            <a:pathLst>
              <a:path w="8476150" h="4633629">
                <a:moveTo>
                  <a:pt x="0" y="0"/>
                </a:moveTo>
                <a:lnTo>
                  <a:pt x="8476150" y="0"/>
                </a:lnTo>
                <a:lnTo>
                  <a:pt x="8476150" y="4633629"/>
                </a:lnTo>
                <a:lnTo>
                  <a:pt x="0" y="4633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13" t="-4274" r="-5437" b="-1310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0" y="1095375"/>
            <a:ext cx="17833582" cy="147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4"/>
              </a:lnSpc>
              <a:spcBef>
                <a:spcPct val="0"/>
              </a:spcBef>
            </a:pPr>
            <a:r>
              <a:rPr lang="en-US" sz="5400" b="1" spc="1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Exploration graphique des liens entre variables qualitatives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30519" y="0"/>
            <a:ext cx="20394390" cy="11059967"/>
          </a:xfrm>
          <a:custGeom>
            <a:avLst/>
            <a:gdLst/>
            <a:ahLst/>
            <a:cxnLst/>
            <a:rect l="l" t="t" r="r" b="b"/>
            <a:pathLst>
              <a:path w="20394390" h="11059967">
                <a:moveTo>
                  <a:pt x="0" y="0"/>
                </a:moveTo>
                <a:lnTo>
                  <a:pt x="20394390" y="0"/>
                </a:lnTo>
                <a:lnTo>
                  <a:pt x="20394390" y="11059967"/>
                </a:lnTo>
                <a:lnTo>
                  <a:pt x="0" y="11059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b="-2293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593588" y="1530130"/>
            <a:ext cx="10736402" cy="110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4090" b="1" spc="1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CROISEMENT DES VARIABLES QUANTITATIVES ET QUALITATIVES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674765" y="1028700"/>
            <a:ext cx="2363967" cy="2363373"/>
            <a:chOff x="0" y="0"/>
            <a:chExt cx="1139951" cy="11396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9951" cy="1139665"/>
            </a:xfrm>
            <a:custGeom>
              <a:avLst/>
              <a:gdLst/>
              <a:ahLst/>
              <a:cxnLst/>
              <a:rect l="l" t="t" r="r" b="b"/>
              <a:pathLst>
                <a:path w="1139951" h="1139665">
                  <a:moveTo>
                    <a:pt x="0" y="0"/>
                  </a:moveTo>
                  <a:lnTo>
                    <a:pt x="1139951" y="0"/>
                  </a:lnTo>
                  <a:lnTo>
                    <a:pt x="1139951" y="1139665"/>
                  </a:lnTo>
                  <a:lnTo>
                    <a:pt x="0" y="1139665"/>
                  </a:lnTo>
                  <a:close/>
                </a:path>
              </a:pathLst>
            </a:custGeom>
            <a:solidFill>
              <a:srgbClr val="35C0D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39951" cy="117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361723">
            <a:off x="14916750" y="1590585"/>
            <a:ext cx="2363967" cy="2363373"/>
            <a:chOff x="0" y="0"/>
            <a:chExt cx="1139951" cy="11396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9951" cy="1139665"/>
            </a:xfrm>
            <a:custGeom>
              <a:avLst/>
              <a:gdLst/>
              <a:ahLst/>
              <a:cxnLst/>
              <a:rect l="l" t="t" r="r" b="b"/>
              <a:pathLst>
                <a:path w="1139951" h="1139665">
                  <a:moveTo>
                    <a:pt x="0" y="0"/>
                  </a:moveTo>
                  <a:lnTo>
                    <a:pt x="1139951" y="0"/>
                  </a:lnTo>
                  <a:lnTo>
                    <a:pt x="1139951" y="1139665"/>
                  </a:lnTo>
                  <a:lnTo>
                    <a:pt x="0" y="1139665"/>
                  </a:lnTo>
                  <a:close/>
                </a:path>
              </a:pathLst>
            </a:custGeom>
            <a:solidFill>
              <a:srgbClr val="2EA2B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9951" cy="117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573205" y="2101947"/>
            <a:ext cx="2567087" cy="66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3"/>
              </a:lnSpc>
            </a:pPr>
            <a:r>
              <a:rPr lang="en-US" sz="2456" b="1" spc="9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SCORE PHYSIQUE</a:t>
            </a:r>
          </a:p>
        </p:txBody>
      </p:sp>
      <p:sp>
        <p:nvSpPr>
          <p:cNvPr id="11" name="TextBox 11"/>
          <p:cNvSpPr txBox="1"/>
          <p:nvPr/>
        </p:nvSpPr>
        <p:spPr>
          <a:xfrm rot="361723">
            <a:off x="14946225" y="2600929"/>
            <a:ext cx="2302016" cy="66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3"/>
              </a:lnSpc>
            </a:pPr>
            <a:r>
              <a:rPr lang="en-US" sz="2456" b="1" spc="9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SCORE DIGITAL</a:t>
            </a:r>
          </a:p>
        </p:txBody>
      </p:sp>
      <p:sp>
        <p:nvSpPr>
          <p:cNvPr id="12" name="Freeform 12"/>
          <p:cNvSpPr/>
          <p:nvPr/>
        </p:nvSpPr>
        <p:spPr>
          <a:xfrm>
            <a:off x="593588" y="3557953"/>
            <a:ext cx="8208163" cy="4622316"/>
          </a:xfrm>
          <a:custGeom>
            <a:avLst/>
            <a:gdLst/>
            <a:ahLst/>
            <a:cxnLst/>
            <a:rect l="l" t="t" r="r" b="b"/>
            <a:pathLst>
              <a:path w="8208163" h="4622316">
                <a:moveTo>
                  <a:pt x="0" y="0"/>
                </a:moveTo>
                <a:lnTo>
                  <a:pt x="8208163" y="0"/>
                </a:lnTo>
                <a:lnTo>
                  <a:pt x="8208163" y="4622316"/>
                </a:lnTo>
                <a:lnTo>
                  <a:pt x="0" y="4622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9168797" y="5143500"/>
            <a:ext cx="8229492" cy="4639376"/>
          </a:xfrm>
          <a:custGeom>
            <a:avLst/>
            <a:gdLst/>
            <a:ahLst/>
            <a:cxnLst/>
            <a:rect l="l" t="t" r="r" b="b"/>
            <a:pathLst>
              <a:path w="8229492" h="4639376">
                <a:moveTo>
                  <a:pt x="0" y="0"/>
                </a:moveTo>
                <a:lnTo>
                  <a:pt x="8229492" y="0"/>
                </a:lnTo>
                <a:lnTo>
                  <a:pt x="8229492" y="4639376"/>
                </a:lnTo>
                <a:lnTo>
                  <a:pt x="0" y="4639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E10">
                <a:alpha val="54902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911426" y="5427501"/>
            <a:ext cx="12000762" cy="3588268"/>
          </a:xfrm>
          <a:custGeom>
            <a:avLst/>
            <a:gdLst/>
            <a:ahLst/>
            <a:cxnLst/>
            <a:rect l="l" t="t" r="r" b="b"/>
            <a:pathLst>
              <a:path w="12000762" h="3588268">
                <a:moveTo>
                  <a:pt x="0" y="0"/>
                </a:moveTo>
                <a:lnTo>
                  <a:pt x="12000761" y="0"/>
                </a:lnTo>
                <a:lnTo>
                  <a:pt x="12000761" y="3588268"/>
                </a:lnTo>
                <a:lnTo>
                  <a:pt x="0" y="3588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028700" y="1854775"/>
            <a:ext cx="6073202" cy="493448"/>
          </a:xfrm>
          <a:custGeom>
            <a:avLst/>
            <a:gdLst/>
            <a:ahLst/>
            <a:cxnLst/>
            <a:rect l="l" t="t" r="r" b="b"/>
            <a:pathLst>
              <a:path w="6073202" h="493448">
                <a:moveTo>
                  <a:pt x="0" y="0"/>
                </a:moveTo>
                <a:lnTo>
                  <a:pt x="6073202" y="0"/>
                </a:lnTo>
                <a:lnTo>
                  <a:pt x="6073202" y="493448"/>
                </a:lnTo>
                <a:lnTo>
                  <a:pt x="0" y="493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7701888" y="1602390"/>
            <a:ext cx="8127069" cy="94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montée en gamme améliore nettement l’expérience, digitale comme physique.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7925" y="-58876"/>
            <a:ext cx="8220075" cy="10345876"/>
          </a:xfrm>
          <a:custGeom>
            <a:avLst/>
            <a:gdLst/>
            <a:ahLst/>
            <a:cxnLst/>
            <a:rect l="l" t="t" r="r" b="b"/>
            <a:pathLst>
              <a:path w="8220075" h="10345876">
                <a:moveTo>
                  <a:pt x="0" y="0"/>
                </a:moveTo>
                <a:lnTo>
                  <a:pt x="8220075" y="0"/>
                </a:lnTo>
                <a:lnTo>
                  <a:pt x="8220075" y="10345876"/>
                </a:lnTo>
                <a:lnTo>
                  <a:pt x="0" y="10345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395" r="-443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228301">
            <a:off x="751539" y="3392564"/>
            <a:ext cx="1006455" cy="1000965"/>
          </a:xfrm>
          <a:custGeom>
            <a:avLst/>
            <a:gdLst/>
            <a:ahLst/>
            <a:cxnLst/>
            <a:rect l="l" t="t" r="r" b="b"/>
            <a:pathLst>
              <a:path w="1006455" h="1000965">
                <a:moveTo>
                  <a:pt x="0" y="0"/>
                </a:moveTo>
                <a:lnTo>
                  <a:pt x="1006455" y="0"/>
                </a:lnTo>
                <a:lnTo>
                  <a:pt x="1006455" y="1000965"/>
                </a:lnTo>
                <a:lnTo>
                  <a:pt x="0" y="1000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00346" y="4712460"/>
            <a:ext cx="9867579" cy="23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2"/>
              </a:lnSpc>
            </a:pPr>
            <a:r>
              <a:rPr lang="en-US" sz="5700" b="1" spc="21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Comparer pour mieux comprendre : que révèle l’analyse statistique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6700"/>
            <a:ext cx="18596787" cy="10375332"/>
          </a:xfrm>
          <a:custGeom>
            <a:avLst/>
            <a:gdLst/>
            <a:ahLst/>
            <a:cxnLst/>
            <a:rect l="l" t="t" r="r" b="b"/>
            <a:pathLst>
              <a:path w="18596787" h="12057357">
                <a:moveTo>
                  <a:pt x="0" y="0"/>
                </a:moveTo>
                <a:lnTo>
                  <a:pt x="18596787" y="0"/>
                </a:lnTo>
                <a:lnTo>
                  <a:pt x="18596787" y="12057357"/>
                </a:lnTo>
                <a:lnTo>
                  <a:pt x="0" y="1205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t="-65677" b="-65677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Freeform 3"/>
          <p:cNvSpPr/>
          <p:nvPr/>
        </p:nvSpPr>
        <p:spPr>
          <a:xfrm>
            <a:off x="7107514" y="3341826"/>
            <a:ext cx="10548566" cy="2141949"/>
          </a:xfrm>
          <a:custGeom>
            <a:avLst/>
            <a:gdLst/>
            <a:ahLst/>
            <a:cxnLst/>
            <a:rect l="l" t="t" r="r" b="b"/>
            <a:pathLst>
              <a:path w="10548566" h="2141949">
                <a:moveTo>
                  <a:pt x="0" y="0"/>
                </a:moveTo>
                <a:lnTo>
                  <a:pt x="10548566" y="0"/>
                </a:lnTo>
                <a:lnTo>
                  <a:pt x="10548566" y="2141949"/>
                </a:lnTo>
                <a:lnTo>
                  <a:pt x="0" y="214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15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7107514" y="6358691"/>
            <a:ext cx="10566978" cy="2075700"/>
          </a:xfrm>
          <a:custGeom>
            <a:avLst/>
            <a:gdLst/>
            <a:ahLst/>
            <a:cxnLst/>
            <a:rect l="l" t="t" r="r" b="b"/>
            <a:pathLst>
              <a:path w="10566978" h="2075700">
                <a:moveTo>
                  <a:pt x="0" y="0"/>
                </a:moveTo>
                <a:lnTo>
                  <a:pt x="10566979" y="0"/>
                </a:lnTo>
                <a:lnTo>
                  <a:pt x="10566979" y="2075700"/>
                </a:lnTo>
                <a:lnTo>
                  <a:pt x="0" y="207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5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740402" y="885825"/>
            <a:ext cx="10807195" cy="117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56"/>
              </a:lnSpc>
            </a:pPr>
            <a:r>
              <a:rPr lang="en-US" sz="682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t de Student (Welch)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3290" y="3682760"/>
            <a:ext cx="6734224" cy="196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Comparaison des moyennes des scores (physiques et digitales) entre les groupes “Business” et “Eco”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3290" y="6212432"/>
            <a:ext cx="6734224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moyennes des scores sont significativement plus élevées en classe “Business”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2310" y="-1891671"/>
            <a:ext cx="19725750" cy="13160588"/>
          </a:xfrm>
          <a:custGeom>
            <a:avLst/>
            <a:gdLst/>
            <a:ahLst/>
            <a:cxnLst/>
            <a:rect l="l" t="t" r="r" b="b"/>
            <a:pathLst>
              <a:path w="19725750" h="13160588">
                <a:moveTo>
                  <a:pt x="0" y="0"/>
                </a:moveTo>
                <a:lnTo>
                  <a:pt x="19725750" y="0"/>
                </a:lnTo>
                <a:lnTo>
                  <a:pt x="19725750" y="13160589"/>
                </a:lnTo>
                <a:lnTo>
                  <a:pt x="0" y="1316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62413" b="-6241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503843" y="3576787"/>
            <a:ext cx="5409871" cy="1031124"/>
          </a:xfrm>
          <a:custGeom>
            <a:avLst/>
            <a:gdLst/>
            <a:ahLst/>
            <a:cxnLst/>
            <a:rect l="l" t="t" r="r" b="b"/>
            <a:pathLst>
              <a:path w="5409871" h="1031124">
                <a:moveTo>
                  <a:pt x="0" y="0"/>
                </a:moveTo>
                <a:lnTo>
                  <a:pt x="5409871" y="0"/>
                </a:lnTo>
                <a:lnTo>
                  <a:pt x="5409871" y="1031124"/>
                </a:lnTo>
                <a:lnTo>
                  <a:pt x="0" y="1031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503843" y="5321308"/>
            <a:ext cx="5237045" cy="1047409"/>
          </a:xfrm>
          <a:custGeom>
            <a:avLst/>
            <a:gdLst/>
            <a:ahLst/>
            <a:cxnLst/>
            <a:rect l="l" t="t" r="r" b="b"/>
            <a:pathLst>
              <a:path w="5237045" h="1047409">
                <a:moveTo>
                  <a:pt x="0" y="0"/>
                </a:moveTo>
                <a:lnTo>
                  <a:pt x="5237045" y="0"/>
                </a:lnTo>
                <a:lnTo>
                  <a:pt x="5237045" y="1047409"/>
                </a:lnTo>
                <a:lnTo>
                  <a:pt x="0" y="1047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503843" y="7092683"/>
            <a:ext cx="5409871" cy="1033346"/>
          </a:xfrm>
          <a:custGeom>
            <a:avLst/>
            <a:gdLst/>
            <a:ahLst/>
            <a:cxnLst/>
            <a:rect l="l" t="t" r="r" b="b"/>
            <a:pathLst>
              <a:path w="5409871" h="1033346">
                <a:moveTo>
                  <a:pt x="0" y="0"/>
                </a:moveTo>
                <a:lnTo>
                  <a:pt x="5409871" y="0"/>
                </a:lnTo>
                <a:lnTo>
                  <a:pt x="5409871" y="1033346"/>
                </a:lnTo>
                <a:lnTo>
                  <a:pt x="0" y="1033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1314122" y="3597229"/>
            <a:ext cx="5814502" cy="1140413"/>
          </a:xfrm>
          <a:custGeom>
            <a:avLst/>
            <a:gdLst/>
            <a:ahLst/>
            <a:cxnLst/>
            <a:rect l="l" t="t" r="r" b="b"/>
            <a:pathLst>
              <a:path w="5814502" h="1140413">
                <a:moveTo>
                  <a:pt x="0" y="0"/>
                </a:moveTo>
                <a:lnTo>
                  <a:pt x="5814502" y="0"/>
                </a:lnTo>
                <a:lnTo>
                  <a:pt x="5814502" y="1140413"/>
                </a:lnTo>
                <a:lnTo>
                  <a:pt x="0" y="1140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1444798" y="5204367"/>
            <a:ext cx="5814502" cy="1294081"/>
          </a:xfrm>
          <a:custGeom>
            <a:avLst/>
            <a:gdLst/>
            <a:ahLst/>
            <a:cxnLst/>
            <a:rect l="l" t="t" r="r" b="b"/>
            <a:pathLst>
              <a:path w="5814502" h="1294081">
                <a:moveTo>
                  <a:pt x="0" y="0"/>
                </a:moveTo>
                <a:lnTo>
                  <a:pt x="5814502" y="0"/>
                </a:lnTo>
                <a:lnTo>
                  <a:pt x="5814502" y="1294081"/>
                </a:lnTo>
                <a:lnTo>
                  <a:pt x="0" y="12940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1444798" y="7070121"/>
            <a:ext cx="5814502" cy="1185639"/>
          </a:xfrm>
          <a:custGeom>
            <a:avLst/>
            <a:gdLst/>
            <a:ahLst/>
            <a:cxnLst/>
            <a:rect l="l" t="t" r="r" b="b"/>
            <a:pathLst>
              <a:path w="5814502" h="1185639">
                <a:moveTo>
                  <a:pt x="0" y="0"/>
                </a:moveTo>
                <a:lnTo>
                  <a:pt x="5814502" y="0"/>
                </a:lnTo>
                <a:lnTo>
                  <a:pt x="5814502" y="1185639"/>
                </a:lnTo>
                <a:lnTo>
                  <a:pt x="0" y="1185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2793973" y="4232668"/>
            <a:ext cx="1246006" cy="364740"/>
          </a:xfrm>
          <a:custGeom>
            <a:avLst/>
            <a:gdLst/>
            <a:ahLst/>
            <a:cxnLst/>
            <a:rect l="l" t="t" r="r" b="b"/>
            <a:pathLst>
              <a:path w="1246006" h="364740">
                <a:moveTo>
                  <a:pt x="0" y="0"/>
                </a:moveTo>
                <a:lnTo>
                  <a:pt x="1246006" y="0"/>
                </a:lnTo>
                <a:lnTo>
                  <a:pt x="1246006" y="364740"/>
                </a:lnTo>
                <a:lnTo>
                  <a:pt x="0" y="364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039979" y="382531"/>
            <a:ext cx="10181394" cy="117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56"/>
              </a:lnSpc>
            </a:pPr>
            <a:r>
              <a:rPr lang="en-US" sz="682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de Shapiro-wilk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0386" y="8432643"/>
            <a:ext cx="14607228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just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Toutes les p-values sont &lt; 0.05 → les distributions ne sont pas normales</a:t>
            </a:r>
          </a:p>
          <a:p>
            <a:pPr marL="626107" lvl="1" indent="-313054" algn="just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Donc, on ne peut pas utiliser le test t seul de manière rigoureuse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22365" y="2362033"/>
            <a:ext cx="11543059" cy="97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Vérifie si les scores (physique et digital) suivent une distribution normale dans chaque classe.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08778" y="7768892"/>
            <a:ext cx="1246006" cy="364740"/>
          </a:xfrm>
          <a:custGeom>
            <a:avLst/>
            <a:gdLst/>
            <a:ahLst/>
            <a:cxnLst/>
            <a:rect l="l" t="t" r="r" b="b"/>
            <a:pathLst>
              <a:path w="1246006" h="364740">
                <a:moveTo>
                  <a:pt x="0" y="0"/>
                </a:moveTo>
                <a:lnTo>
                  <a:pt x="1246006" y="0"/>
                </a:lnTo>
                <a:lnTo>
                  <a:pt x="1246006" y="364740"/>
                </a:lnTo>
                <a:lnTo>
                  <a:pt x="0" y="364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>
            <a:off x="13914167" y="4248797"/>
            <a:ext cx="1502513" cy="439827"/>
          </a:xfrm>
          <a:custGeom>
            <a:avLst/>
            <a:gdLst/>
            <a:ahLst/>
            <a:cxnLst/>
            <a:rect l="l" t="t" r="r" b="b"/>
            <a:pathLst>
              <a:path w="1502513" h="439827">
                <a:moveTo>
                  <a:pt x="0" y="0"/>
                </a:moveTo>
                <a:lnTo>
                  <a:pt x="1502513" y="0"/>
                </a:lnTo>
                <a:lnTo>
                  <a:pt x="1502513" y="439827"/>
                </a:lnTo>
                <a:lnTo>
                  <a:pt x="0" y="4398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8308" y="-754888"/>
            <a:ext cx="18556308" cy="11619131"/>
          </a:xfrm>
          <a:custGeom>
            <a:avLst/>
            <a:gdLst/>
            <a:ahLst/>
            <a:cxnLst/>
            <a:rect l="l" t="t" r="r" b="b"/>
            <a:pathLst>
              <a:path w="18556308" h="11619131">
                <a:moveTo>
                  <a:pt x="0" y="0"/>
                </a:moveTo>
                <a:lnTo>
                  <a:pt x="18556308" y="0"/>
                </a:lnTo>
                <a:lnTo>
                  <a:pt x="18556308" y="11619132"/>
                </a:lnTo>
                <a:lnTo>
                  <a:pt x="0" y="11619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t="-69778" b="-6977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7746412" y="3639899"/>
            <a:ext cx="10312385" cy="1679220"/>
          </a:xfrm>
          <a:custGeom>
            <a:avLst/>
            <a:gdLst/>
            <a:ahLst/>
            <a:cxnLst/>
            <a:rect l="l" t="t" r="r" b="b"/>
            <a:pathLst>
              <a:path w="10312385" h="1679220">
                <a:moveTo>
                  <a:pt x="0" y="0"/>
                </a:moveTo>
                <a:lnTo>
                  <a:pt x="10312385" y="0"/>
                </a:lnTo>
                <a:lnTo>
                  <a:pt x="10312385" y="1679220"/>
                </a:lnTo>
                <a:lnTo>
                  <a:pt x="0" y="16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7746412" y="7039512"/>
            <a:ext cx="10308374" cy="1662003"/>
          </a:xfrm>
          <a:custGeom>
            <a:avLst/>
            <a:gdLst/>
            <a:ahLst/>
            <a:cxnLst/>
            <a:rect l="l" t="t" r="r" b="b"/>
            <a:pathLst>
              <a:path w="10308374" h="1662003">
                <a:moveTo>
                  <a:pt x="0" y="0"/>
                </a:moveTo>
                <a:lnTo>
                  <a:pt x="10308374" y="0"/>
                </a:lnTo>
                <a:lnTo>
                  <a:pt x="10308374" y="1662003"/>
                </a:lnTo>
                <a:lnTo>
                  <a:pt x="0" y="1662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042012" y="885825"/>
            <a:ext cx="12203977" cy="117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56"/>
              </a:lnSpc>
            </a:pPr>
            <a:r>
              <a:rPr lang="en-US" sz="682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de Wilcoxon (rank sum)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230" y="6758019"/>
            <a:ext cx="7520182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Une différence statistiquement significative est observée entre les classes pour les deux scores.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230" y="4422359"/>
            <a:ext cx="6990147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Permet de comparer les distributions sans supposer la normalité, entre Eco et Business.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 rot="-213714">
            <a:off x="5274463" y="4489783"/>
            <a:ext cx="6956068" cy="1307434"/>
            <a:chOff x="0" y="0"/>
            <a:chExt cx="1832051" cy="3443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32051" cy="344345"/>
            </a:xfrm>
            <a:custGeom>
              <a:avLst/>
              <a:gdLst/>
              <a:ahLst/>
              <a:cxnLst/>
              <a:rect l="l" t="t" r="r" b="b"/>
              <a:pathLst>
                <a:path w="1832051" h="344345">
                  <a:moveTo>
                    <a:pt x="0" y="0"/>
                  </a:moveTo>
                  <a:lnTo>
                    <a:pt x="1832051" y="0"/>
                  </a:lnTo>
                  <a:lnTo>
                    <a:pt x="1832051" y="344345"/>
                  </a:lnTo>
                  <a:lnTo>
                    <a:pt x="0" y="344345"/>
                  </a:lnTo>
                  <a:close/>
                </a:path>
              </a:pathLst>
            </a:custGeom>
            <a:solidFill>
              <a:srgbClr val="278C9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32051" cy="382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213714">
            <a:off x="5453185" y="4702025"/>
            <a:ext cx="6603949" cy="91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86"/>
              </a:lnSpc>
            </a:pPr>
            <a:r>
              <a:rPr lang="en-US" sz="6591" spc="24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302</Words>
  <Application>Microsoft Office PowerPoint</Application>
  <PresentationFormat>Personnalisé</PresentationFormat>
  <Paragraphs>36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Calibri</vt:lpstr>
      <vt:lpstr>Montaser Arabic Bold</vt:lpstr>
      <vt:lpstr>Open Sans Bold</vt:lpstr>
      <vt:lpstr>Arial</vt:lpstr>
      <vt:lpstr>Montaser Arabic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Bleu et Noir Moderne Avion Entreprise Présentation</dc:title>
  <dc:creator>marina moumou</dc:creator>
  <cp:lastModifiedBy>marina moumou</cp:lastModifiedBy>
  <cp:revision>2</cp:revision>
  <dcterms:created xsi:type="dcterms:W3CDTF">2006-08-16T00:00:00Z</dcterms:created>
  <dcterms:modified xsi:type="dcterms:W3CDTF">2025-04-16T20:54:49Z</dcterms:modified>
  <dc:identifier>DAGku3Ghuxg</dc:identifier>
</cp:coreProperties>
</file>